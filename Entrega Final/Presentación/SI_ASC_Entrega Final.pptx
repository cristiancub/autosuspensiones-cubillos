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c694lx7sLucdSuStKIDnAd8Kf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FCE4E3-8A0F-4297-9438-44C226289AA9}">
  <a:tblStyle styleId="{14FCE4E3-8A0F-4297-9438-44C226289AA9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rgbClr val="BAD3D8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BAD3D8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BAD3D8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BAD3D8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l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lt1">
              <a:alpha val="2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lastCol>
    <a:firstCol>
      <a:tcTxStyle b="on" i="off"/>
      <a:tcStyle>
        <a:tcBdr>
          <a:right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firstCol>
    <a:lastRow>
      <a:tcTxStyle b="on" i="off"/>
      <a:tcStyle>
        <a:tcBdr>
          <a:top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seCell>
    <a:s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swCell>
    <a:firstRow>
      <a:tcTxStyle b="on" i="off"/>
      <a:tcStyle>
        <a:tcBdr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neCell>
    <a:nwCell>
      <a:tcTxStyle/>
    </a:nwCell>
  </a:tblStyle>
  <a:tblStyle styleId="{F341A6FB-C6F7-4703-9D0C-3FA6B94D453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0" y="381000"/>
            <a:ext cx="85206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3072250"/>
            <a:ext cx="8520600" cy="7926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9525">
              <a:srgbClr val="000000">
                <a:alpha val="9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  <a:defRPr sz="2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" type="body"/>
          </p:nvPr>
        </p:nvSpPr>
        <p:spPr>
          <a:xfrm>
            <a:off x="247650" y="1152475"/>
            <a:ext cx="8708400" cy="3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8407425" y="-1"/>
            <a:ext cx="548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407425" y="-1"/>
            <a:ext cx="548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ctrTitle"/>
          </p:nvPr>
        </p:nvSpPr>
        <p:spPr>
          <a:xfrm>
            <a:off x="311700" y="2400300"/>
            <a:ext cx="85206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7"/>
          <p:cNvSpPr txBox="1"/>
          <p:nvPr>
            <p:ph idx="1" type="subTitle"/>
          </p:nvPr>
        </p:nvSpPr>
        <p:spPr>
          <a:xfrm>
            <a:off x="311700" y="3634225"/>
            <a:ext cx="85206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/>
          <p:nvPr>
            <p:ph type="title"/>
          </p:nvPr>
        </p:nvSpPr>
        <p:spPr>
          <a:xfrm>
            <a:off x="311700" y="828675"/>
            <a:ext cx="85206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407425" y="-1"/>
            <a:ext cx="548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247650" y="1152475"/>
            <a:ext cx="8708400" cy="3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Trebuchet MS"/>
              <a:buChar char="●"/>
              <a:defRPr b="0" i="0" sz="18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○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■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●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○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■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●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○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Trebuchet MS"/>
              <a:buChar char="■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07425" y="-1"/>
            <a:ext cx="548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11" Type="http://schemas.openxmlformats.org/officeDocument/2006/relationships/image" Target="../media/image20.png"/><Relationship Id="rId10" Type="http://schemas.openxmlformats.org/officeDocument/2006/relationships/image" Target="../media/image22.png"/><Relationship Id="rId9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17.png"/><Relationship Id="rId7" Type="http://schemas.openxmlformats.org/officeDocument/2006/relationships/hyperlink" Target="https://portal1.contraloriabogota.gov.co/sites/default/files/Contenido/Informes/Auditoria/Participaci%C3%B3n%20Ciudadana/PAD_2005/FaseI/14_MARTIRES/INFORME%20FINAL%2014%20de%20junio.doc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hyperlink" Target="https://www.sdp.gov.co/sites/default/files/upz_no_37_santa_isabel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17.png"/><Relationship Id="rId5" Type="http://schemas.openxmlformats.org/officeDocument/2006/relationships/hyperlink" Target="https://desarrolloeconomico.gov.co/radiografia-de-la-informalidad-en-bogota-el-767-de-los-micronegocios-son-informales-pero-no-todos-por-las-mismas-razones/" TargetMode="External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tor a reacción girando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862244" y="-30194178"/>
            <a:ext cx="87916488" cy="66452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nterfaz de usuario gráfica  El contenido generado por IA puede ser incorrecto." id="32" name="Google Shape;3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 txBox="1"/>
          <p:nvPr>
            <p:ph type="ctrTitle"/>
          </p:nvPr>
        </p:nvSpPr>
        <p:spPr>
          <a:xfrm>
            <a:off x="311700" y="381000"/>
            <a:ext cx="85206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CO"/>
              <a:t>Autosuspensiones Cubillos</a:t>
            </a:r>
            <a:br>
              <a:rPr lang="es-CO"/>
            </a:br>
            <a:r>
              <a:rPr i="1" lang="es-CO" sz="3600">
                <a:solidFill>
                  <a:srgbClr val="DDDDDD"/>
                </a:solidFill>
              </a:rPr>
              <a:t>Entrega Final</a:t>
            </a:r>
            <a:endParaRPr i="1">
              <a:solidFill>
                <a:srgbClr val="DDDDDD"/>
              </a:solidFill>
            </a:endParaRPr>
          </a:p>
        </p:txBody>
      </p:sp>
      <p:sp>
        <p:nvSpPr>
          <p:cNvPr id="34" name="Google Shape;34;p1"/>
          <p:cNvSpPr txBox="1"/>
          <p:nvPr>
            <p:ph idx="1" type="subTitle"/>
          </p:nvPr>
        </p:nvSpPr>
        <p:spPr>
          <a:xfrm>
            <a:off x="311700" y="2857499"/>
            <a:ext cx="8520600" cy="1264227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9525">
              <a:srgbClr val="000000">
                <a:alpha val="9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Santiago Zamora Garzón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Cristian Fabián Cubillos Mora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Gabriel Jeronimo Puentes Umbarila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Luis Rodrigo Rivera Rivera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Diego Fernando Quintero Gómez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-1"/>
            <a:ext cx="9147290" cy="5142585"/>
          </a:xfrm>
          <a:prstGeom prst="rect">
            <a:avLst/>
          </a:prstGeom>
          <a:gradFill>
            <a:gsLst>
              <a:gs pos="0">
                <a:srgbClr val="FFFFFF">
                  <a:alpha val="52941"/>
                </a:srgbClr>
              </a:gs>
              <a:gs pos="100000">
                <a:srgbClr val="A5A5A5">
                  <a:alpha val="69019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z de usuario gráfica, Aplicación, Excel  El contenido generado por IA puede ser incorrecto."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El proyecto</a:t>
            </a:r>
            <a:endParaRPr/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360" y="2574177"/>
            <a:ext cx="2479284" cy="13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560" y="2574177"/>
            <a:ext cx="2479284" cy="13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2358" y="2574177"/>
            <a:ext cx="2479284" cy="13945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 txBox="1"/>
          <p:nvPr/>
        </p:nvSpPr>
        <p:spPr>
          <a:xfrm>
            <a:off x="244361" y="1253621"/>
            <a:ext cx="860748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de digitalización para </a:t>
            </a:r>
            <a:r>
              <a:rPr b="1" i="1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Autosuspensiones Cubillos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un taller automotriz especializado en suspensiones y mantenimiento de taxis ubicado en El Vergel, Bogotá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xi" id="46" name="Google Shape;4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3752399" y="2671352"/>
            <a:ext cx="3435841" cy="1970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Aplicación, Excel  El contenido generado por IA puede ser incorrecto.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Cómo empezó</a:t>
            </a:r>
            <a:endParaRPr/>
          </a:p>
        </p:txBody>
      </p:sp>
      <p:pic>
        <p:nvPicPr>
          <p:cNvPr descr="Taxi" id="53" name="Google Shape;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1600" y="3404781"/>
            <a:ext cx="3492944" cy="13832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3"/>
          <p:cNvGrpSpPr/>
          <p:nvPr/>
        </p:nvGrpSpPr>
        <p:grpSpPr>
          <a:xfrm>
            <a:off x="4453190" y="1054696"/>
            <a:ext cx="4502860" cy="3357051"/>
            <a:chOff x="10806990" y="1106625"/>
            <a:chExt cx="4502860" cy="3357051"/>
          </a:xfrm>
        </p:grpSpPr>
        <p:pic>
          <p:nvPicPr>
            <p:cNvPr id="55" name="Google Shape;55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806990" y="1106625"/>
              <a:ext cx="2358802" cy="1641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832381" y="1945250"/>
              <a:ext cx="2353865" cy="1660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852835" y="2803073"/>
              <a:ext cx="2457015" cy="16606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" name="Google Shape;58;p3"/>
          <p:cNvPicPr preferRelativeResize="0"/>
          <p:nvPr/>
        </p:nvPicPr>
        <p:blipFill rotWithShape="1">
          <a:blip r:embed="rId8">
            <a:alphaModFix/>
          </a:blip>
          <a:srcRect b="6697" l="0" r="0" t="0"/>
          <a:stretch/>
        </p:blipFill>
        <p:spPr>
          <a:xfrm>
            <a:off x="835720" y="1109079"/>
            <a:ext cx="7234940" cy="3357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3"/>
          <p:cNvGrpSpPr/>
          <p:nvPr/>
        </p:nvGrpSpPr>
        <p:grpSpPr>
          <a:xfrm>
            <a:off x="385119" y="1329265"/>
            <a:ext cx="3682953" cy="2705156"/>
            <a:chOff x="0" y="0"/>
            <a:chExt cx="3682953" cy="2705156"/>
          </a:xfrm>
        </p:grpSpPr>
        <p:cxnSp>
          <p:nvCxnSpPr>
            <p:cNvPr id="60" name="Google Shape;60;p3"/>
            <p:cNvCxnSpPr/>
            <p:nvPr/>
          </p:nvCxnSpPr>
          <p:spPr>
            <a:xfrm>
              <a:off x="0" y="0"/>
              <a:ext cx="3682953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" name="Google Shape;61;p3"/>
            <p:cNvSpPr/>
            <p:nvPr/>
          </p:nvSpPr>
          <p:spPr>
            <a:xfrm>
              <a:off x="0" y="0"/>
              <a:ext cx="736590" cy="2705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 txBox="1"/>
            <p:nvPr/>
          </p:nvSpPr>
          <p:spPr>
            <a:xfrm>
              <a:off x="0" y="0"/>
              <a:ext cx="736590" cy="2705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-CO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Cliente</a:t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91834" y="25492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 txBox="1"/>
            <p:nvPr/>
          </p:nvSpPr>
          <p:spPr>
            <a:xfrm>
              <a:off x="791834" y="25492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-CO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Contabilidad</a:t>
              </a:r>
              <a:endParaRPr/>
            </a:p>
          </p:txBody>
        </p:sp>
        <p:cxnSp>
          <p:nvCxnSpPr>
            <p:cNvPr id="65" name="Google Shape;65;p3"/>
            <p:cNvCxnSpPr/>
            <p:nvPr/>
          </p:nvCxnSpPr>
          <p:spPr>
            <a:xfrm>
              <a:off x="736590" y="535351"/>
              <a:ext cx="2946362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FFDAB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" name="Google Shape;66;p3"/>
            <p:cNvSpPr/>
            <p:nvPr/>
          </p:nvSpPr>
          <p:spPr>
            <a:xfrm>
              <a:off x="791834" y="560844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 txBox="1"/>
            <p:nvPr/>
          </p:nvSpPr>
          <p:spPr>
            <a:xfrm>
              <a:off x="791834" y="560844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-CO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Herramientas</a:t>
              </a:r>
              <a:endParaRPr/>
            </a:p>
          </p:txBody>
        </p:sp>
        <p:cxnSp>
          <p:nvCxnSpPr>
            <p:cNvPr id="68" name="Google Shape;68;p3"/>
            <p:cNvCxnSpPr/>
            <p:nvPr/>
          </p:nvCxnSpPr>
          <p:spPr>
            <a:xfrm>
              <a:off x="736590" y="1070702"/>
              <a:ext cx="2946362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FFDAB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" name="Google Shape;69;p3"/>
            <p:cNvSpPr/>
            <p:nvPr/>
          </p:nvSpPr>
          <p:spPr>
            <a:xfrm>
              <a:off x="791834" y="1096195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 txBox="1"/>
            <p:nvPr/>
          </p:nvSpPr>
          <p:spPr>
            <a:xfrm>
              <a:off x="791834" y="1096195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-CO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Repuestos</a:t>
              </a:r>
              <a:endParaRPr/>
            </a:p>
          </p:txBody>
        </p:sp>
        <p:cxnSp>
          <p:nvCxnSpPr>
            <p:cNvPr id="71" name="Google Shape;71;p3"/>
            <p:cNvCxnSpPr/>
            <p:nvPr/>
          </p:nvCxnSpPr>
          <p:spPr>
            <a:xfrm>
              <a:off x="736590" y="1606054"/>
              <a:ext cx="2946362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FFDAB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" name="Google Shape;72;p3"/>
            <p:cNvSpPr/>
            <p:nvPr/>
          </p:nvSpPr>
          <p:spPr>
            <a:xfrm>
              <a:off x="791834" y="1631547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 txBox="1"/>
            <p:nvPr/>
          </p:nvSpPr>
          <p:spPr>
            <a:xfrm>
              <a:off x="791834" y="1631547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-CO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Actividades</a:t>
              </a:r>
              <a:endParaRPr/>
            </a:p>
          </p:txBody>
        </p:sp>
        <p:cxnSp>
          <p:nvCxnSpPr>
            <p:cNvPr id="74" name="Google Shape;74;p3"/>
            <p:cNvCxnSpPr/>
            <p:nvPr/>
          </p:nvCxnSpPr>
          <p:spPr>
            <a:xfrm>
              <a:off x="736590" y="2141405"/>
              <a:ext cx="2946362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FFDAB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" name="Google Shape;75;p3"/>
            <p:cNvSpPr/>
            <p:nvPr/>
          </p:nvSpPr>
          <p:spPr>
            <a:xfrm>
              <a:off x="791834" y="2166898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 txBox="1"/>
            <p:nvPr/>
          </p:nvSpPr>
          <p:spPr>
            <a:xfrm>
              <a:off x="791834" y="2166898"/>
              <a:ext cx="2891118" cy="509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-CO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Clientes</a:t>
              </a:r>
              <a:endParaRPr/>
            </a:p>
          </p:txBody>
        </p:sp>
        <p:cxnSp>
          <p:nvCxnSpPr>
            <p:cNvPr id="77" name="Google Shape;77;p3"/>
            <p:cNvCxnSpPr/>
            <p:nvPr/>
          </p:nvCxnSpPr>
          <p:spPr>
            <a:xfrm>
              <a:off x="736590" y="2676757"/>
              <a:ext cx="2946362" cy="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FFDABE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Aplicación, Excel  El contenido generado por IA puede ser incorrecto." id="82" name="Google Shape;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xi" id="83" name="Google Shape;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924" y="-620942"/>
            <a:ext cx="8237600" cy="576398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9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Requerimientos reales</a:t>
            </a:r>
            <a:endParaRPr/>
          </a:p>
        </p:txBody>
      </p:sp>
      <p:graphicFrame>
        <p:nvGraphicFramePr>
          <p:cNvPr id="85" name="Google Shape;85;p19"/>
          <p:cNvGraphicFramePr/>
          <p:nvPr/>
        </p:nvGraphicFramePr>
        <p:xfrm>
          <a:off x="87811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{14FCE4E3-8A0F-4297-9438-44C226289AA9}</a:tableStyleId>
              </a:tblPr>
              <a:tblGrid>
                <a:gridCol w="1154000"/>
                <a:gridCol w="1881900"/>
              </a:tblGrid>
              <a:tr h="138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000000"/>
                          </a:solidFill>
                        </a:rPr>
                        <a:t>RNF01 Accesibilidad Visual</a:t>
                      </a:r>
                      <a:endParaRPr sz="1300" u="none" cap="none" strike="noStrike"/>
                    </a:p>
                  </a:txBody>
                  <a:tcPr marT="142025" marB="142025" marR="106525" marL="85225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La interfaz debe usar botones grandes e íconos representativos (ej. motor, llanta) en lugar de menús de texto complejos, específicamente para las cuentas.</a:t>
                      </a:r>
                      <a:endParaRPr sz="1300" u="none" cap="none" strike="noStrike"/>
                    </a:p>
                  </a:txBody>
                  <a:tcPr marT="142025" marB="142025" marR="106525" marL="85225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</a:tr>
              <a:tr h="122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000000"/>
                          </a:solidFill>
                        </a:rPr>
                        <a:t>RNF03 Curva de aprendizaje</a:t>
                      </a:r>
                      <a:endParaRPr sz="1300" u="none" cap="none" strike="noStrike"/>
                    </a:p>
                  </a:txBody>
                  <a:tcPr marT="142025" marB="142025" marR="106525" marL="85225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Un usuario nuevo debe poder operar las funciones básicas del sistema (retirar herramienta, ver tareas) con una capacitación menor a 30 minutos.</a:t>
                      </a:r>
                      <a:endParaRPr sz="1300" u="none" cap="none" strike="noStrike"/>
                    </a:p>
                  </a:txBody>
                  <a:tcPr marT="142025" marB="142025" marR="106525" marL="85225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</a:tr>
              <a:tr h="106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000000"/>
                          </a:solidFill>
                        </a:rPr>
                        <a:t>RNF04 Tiempo de Respuesta</a:t>
                      </a:r>
                      <a:endParaRPr sz="1300" u="none" cap="none" strike="noStrike"/>
                    </a:p>
                  </a:txBody>
                  <a:tcPr marT="142025" marB="142025" marR="106525" marL="85225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Las pantallas principales (tablero Kanban de tareas, inventario) deben cargar en menos de 3 segundos.</a:t>
                      </a:r>
                      <a:endParaRPr sz="1300" u="none" cap="none" strike="noStrike"/>
                    </a:p>
                  </a:txBody>
                  <a:tcPr marT="142025" marB="142025" marR="106525" marL="85225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86" name="Google Shape;86;p19"/>
          <p:cNvGraphicFramePr/>
          <p:nvPr/>
        </p:nvGraphicFramePr>
        <p:xfrm>
          <a:off x="4792139" y="9999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{14FCE4E3-8A0F-4297-9438-44C226289AA9}</a:tableStyleId>
              </a:tblPr>
              <a:tblGrid>
                <a:gridCol w="1320425"/>
                <a:gridCol w="2153325"/>
              </a:tblGrid>
              <a:tr h="122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000000"/>
                          </a:solidFill>
                        </a:rPr>
                        <a:t>RNF06 Manejo sin conexión</a:t>
                      </a:r>
                      <a:endParaRPr sz="1500" u="none" cap="none" strike="noStrike"/>
                    </a:p>
                  </a:txBody>
                  <a:tcPr marT="162525" marB="162525" marR="121875" marL="97500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000000"/>
                          </a:solidFill>
                        </a:rPr>
                        <a:t>El sistema debe guardar en caché y permitir visualizar (modo lectura) las tareas y herramientas asignadas si se cae el internet.</a:t>
                      </a:r>
                      <a:endParaRPr sz="1500" u="none" cap="none" strike="noStrike"/>
                    </a:p>
                  </a:txBody>
                  <a:tcPr marT="162525" marB="162525" marR="121875" marL="97500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</a:tr>
              <a:tr h="104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000000"/>
                          </a:solidFill>
                        </a:rPr>
                        <a:t>RNF07 Disponibilidad</a:t>
                      </a:r>
                      <a:endParaRPr sz="1500" u="none" cap="none" strike="noStrike"/>
                    </a:p>
                  </a:txBody>
                  <a:tcPr marT="162525" marB="162525" marR="121875" marL="97500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000000"/>
                          </a:solidFill>
                        </a:rPr>
                        <a:t>El sistema debe tener un tiempo de actividad operativo del 99.5% durante el horario laboral del taller.</a:t>
                      </a:r>
                      <a:endParaRPr sz="1500" u="none" cap="none" strike="noStrike"/>
                    </a:p>
                  </a:txBody>
                  <a:tcPr marT="162525" marB="162525" marR="121875" marL="97500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</a:tr>
              <a:tr h="140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000000"/>
                          </a:solidFill>
                        </a:rPr>
                        <a:t>RNF08 Roles y Permisos</a:t>
                      </a:r>
                      <a:endParaRPr sz="1500" u="none" cap="none" strike="noStrike"/>
                    </a:p>
                  </a:txBody>
                  <a:tcPr marT="162525" marB="162525" marR="121875" marL="97500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000000"/>
                          </a:solidFill>
                        </a:rPr>
                        <a:t>El sistema debe diferenciar accesos: el Propietario tiene control total (finanzas, reportes globales) y el Mecánico solo acceso a sus tareas y herramientas.</a:t>
                      </a:r>
                      <a:endParaRPr sz="1500" u="none" cap="none" strike="noStrike"/>
                    </a:p>
                  </a:txBody>
                  <a:tcPr marT="162525" marB="162525" marR="121875" marL="97500" anchor="ctr">
                    <a:gradFill>
                      <a:gsLst>
                        <a:gs pos="0">
                          <a:srgbClr val="00D3E9"/>
                        </a:gs>
                        <a:gs pos="100000">
                          <a:srgbClr val="045962"/>
                        </a:gs>
                      </a:gsLst>
                      <a:lin ang="5400012" scaled="0"/>
                    </a:gradFill>
                  </a:tcPr>
                </a:tc>
              </a:tr>
            </a:tbl>
          </a:graphicData>
        </a:graphic>
      </p:graphicFrame>
      <p:grpSp>
        <p:nvGrpSpPr>
          <p:cNvPr id="87" name="Google Shape;87;p19"/>
          <p:cNvGrpSpPr/>
          <p:nvPr/>
        </p:nvGrpSpPr>
        <p:grpSpPr>
          <a:xfrm>
            <a:off x="9735094" y="582524"/>
            <a:ext cx="4502860" cy="3357051"/>
            <a:chOff x="10806990" y="1106625"/>
            <a:chExt cx="4502860" cy="3357051"/>
          </a:xfrm>
        </p:grpSpPr>
        <p:pic>
          <p:nvPicPr>
            <p:cNvPr id="88" name="Google Shape;88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806990" y="1106625"/>
              <a:ext cx="2358802" cy="1641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832381" y="1945250"/>
              <a:ext cx="2353865" cy="1660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852835" y="2803073"/>
              <a:ext cx="2457015" cy="16606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xi" id="95" name="Google Shape;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0244" y="-1525383"/>
            <a:ext cx="3740241" cy="8194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Excel  El contenido generado por IA puede ser incorrecto." id="96" name="Google Shape;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15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 txBox="1"/>
          <p:nvPr>
            <p:ph type="title"/>
          </p:nvPr>
        </p:nvSpPr>
        <p:spPr>
          <a:xfrm>
            <a:off x="311150" y="4704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Requerimientos reales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580" y="2843248"/>
            <a:ext cx="2358802" cy="1641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5961" y="2833649"/>
            <a:ext cx="2353865" cy="1660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3405" y="2833649"/>
            <a:ext cx="2457015" cy="166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/>
          <p:nvPr/>
        </p:nvSpPr>
        <p:spPr>
          <a:xfrm>
            <a:off x="164625" y="1027287"/>
            <a:ext cx="2095500" cy="911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5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mecánicos están acostumbrados a trabajar en un ambiente con grasa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6374162" y="1214684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gradFill>
            <a:gsLst>
              <a:gs pos="0">
                <a:srgbClr val="FFFF7D"/>
              </a:gs>
              <a:gs pos="35000">
                <a:srgbClr val="FFFFA3"/>
              </a:gs>
              <a:gs pos="100000">
                <a:srgbClr val="FFFFD8"/>
              </a:gs>
            </a:gsLst>
            <a:lin ang="16200000" scaled="0"/>
          </a:gradFill>
          <a:ln cap="flat" cmpd="sng" w="9525">
            <a:solidFill>
              <a:srgbClr val="EBFD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Veamos para qué sirve el primero. Dice "Inventario de repuestos".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3453476" y="1067406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4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¿Desde qué umbral lo consideran stock bajo?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1458438" y="1629243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gradFill>
            <a:gsLst>
              <a:gs pos="0">
                <a:srgbClr val="FFFF7D"/>
              </a:gs>
              <a:gs pos="35000">
                <a:srgbClr val="FFFFA3"/>
              </a:gs>
              <a:gs pos="100000">
                <a:srgbClr val="FFFFD8"/>
              </a:gs>
            </a:gsLst>
            <a:lin ang="16200000" scaled="0"/>
          </a:gradFill>
          <a:ln cap="flat" cmpd="sng" w="9525">
            <a:solidFill>
              <a:srgbClr val="EBFD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 imagino que funciona igual. Veamos...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4678681" y="1750868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2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¿Hay alguna opción para exportar un reporte del día?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4714488" y="2630877"/>
            <a:ext cx="1989720" cy="139287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8001" l="0" r="0" t="-8001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6903101" y="3214076"/>
            <a:ext cx="2042005" cy="142948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2000" l="0" r="0" t="-2200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198893" y="2625425"/>
            <a:ext cx="2158837" cy="151126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4000" l="0" r="0" t="-400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2556623" y="3265201"/>
            <a:ext cx="1958972" cy="1371354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2000" r="-2000" t="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xi"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318807" y="1396640"/>
            <a:ext cx="11890807" cy="104056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Excel  El contenido generado por IA puede ser incorrecto." id="115" name="Google Shape;1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15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>
            <p:ph type="title"/>
          </p:nvPr>
        </p:nvSpPr>
        <p:spPr>
          <a:xfrm>
            <a:off x="311150" y="4704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Resultado</a:t>
            </a:r>
            <a:endParaRPr/>
          </a:p>
        </p:txBody>
      </p:sp>
      <p:grpSp>
        <p:nvGrpSpPr>
          <p:cNvPr id="117" name="Google Shape;117;p21"/>
          <p:cNvGrpSpPr/>
          <p:nvPr/>
        </p:nvGrpSpPr>
        <p:grpSpPr>
          <a:xfrm>
            <a:off x="4744086" y="1398183"/>
            <a:ext cx="4275464" cy="3157353"/>
            <a:chOff x="0" y="1543"/>
            <a:chExt cx="4275464" cy="3157353"/>
          </a:xfrm>
        </p:grpSpPr>
        <p:cxnSp>
          <p:nvCxnSpPr>
            <p:cNvPr id="118" name="Google Shape;118;p21"/>
            <p:cNvCxnSpPr/>
            <p:nvPr/>
          </p:nvCxnSpPr>
          <p:spPr>
            <a:xfrm>
              <a:off x="0" y="1543"/>
              <a:ext cx="4275464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21"/>
            <p:cNvSpPr/>
            <p:nvPr/>
          </p:nvSpPr>
          <p:spPr>
            <a:xfrm>
              <a:off x="0" y="1543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1"/>
            <p:cNvSpPr txBox="1"/>
            <p:nvPr/>
          </p:nvSpPr>
          <p:spPr>
            <a:xfrm>
              <a:off x="0" y="1543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-CO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Android 6.0</a:t>
              </a:r>
              <a:endParaRPr/>
            </a:p>
          </p:txBody>
        </p:sp>
        <p:cxnSp>
          <p:nvCxnSpPr>
            <p:cNvPr id="121" name="Google Shape;121;p21"/>
            <p:cNvCxnSpPr/>
            <p:nvPr/>
          </p:nvCxnSpPr>
          <p:spPr>
            <a:xfrm>
              <a:off x="0" y="527768"/>
              <a:ext cx="4275464" cy="0"/>
            </a:xfrm>
            <a:prstGeom prst="straightConnector1">
              <a:avLst/>
            </a:prstGeom>
            <a:solidFill>
              <a:schemeClr val="accent3"/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21"/>
            <p:cNvSpPr/>
            <p:nvPr/>
          </p:nvSpPr>
          <p:spPr>
            <a:xfrm>
              <a:off x="0" y="527768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1"/>
            <p:cNvSpPr txBox="1"/>
            <p:nvPr/>
          </p:nvSpPr>
          <p:spPr>
            <a:xfrm>
              <a:off x="0" y="527768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-CO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JSON como formato para la gestión de la información</a:t>
              </a:r>
              <a:endParaRPr/>
            </a:p>
          </p:txBody>
        </p:sp>
        <p:cxnSp>
          <p:nvCxnSpPr>
            <p:cNvPr id="124" name="Google Shape;124;p21"/>
            <p:cNvCxnSpPr/>
            <p:nvPr/>
          </p:nvCxnSpPr>
          <p:spPr>
            <a:xfrm>
              <a:off x="0" y="1053994"/>
              <a:ext cx="4275464" cy="0"/>
            </a:xfrm>
            <a:prstGeom prst="straightConnector1">
              <a:avLst/>
            </a:prstGeom>
            <a:solidFill>
              <a:schemeClr val="accent4"/>
            </a:solidFill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" name="Google Shape;125;p21"/>
            <p:cNvSpPr/>
            <p:nvPr/>
          </p:nvSpPr>
          <p:spPr>
            <a:xfrm>
              <a:off x="0" y="1053994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1"/>
            <p:cNvSpPr txBox="1"/>
            <p:nvPr/>
          </p:nvSpPr>
          <p:spPr>
            <a:xfrm>
              <a:off x="0" y="1053994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-CO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Necesidad</a:t>
              </a:r>
              <a:r>
                <a:rPr b="0" i="0" lang="es-CO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mínima de capacitación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" name="Google Shape;127;p21"/>
            <p:cNvCxnSpPr/>
            <p:nvPr/>
          </p:nvCxnSpPr>
          <p:spPr>
            <a:xfrm>
              <a:off x="0" y="1580220"/>
              <a:ext cx="4275464" cy="0"/>
            </a:xfrm>
            <a:prstGeom prst="straightConnector1">
              <a:avLst/>
            </a:prstGeom>
            <a:solidFill>
              <a:schemeClr val="accent5"/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21"/>
            <p:cNvSpPr/>
            <p:nvPr/>
          </p:nvSpPr>
          <p:spPr>
            <a:xfrm>
              <a:off x="0" y="1580220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1"/>
            <p:cNvSpPr txBox="1"/>
            <p:nvPr/>
          </p:nvSpPr>
          <p:spPr>
            <a:xfrm>
              <a:off x="0" y="1580220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-CO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StandAlone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" name="Google Shape;130;p21"/>
            <p:cNvCxnSpPr/>
            <p:nvPr/>
          </p:nvCxnSpPr>
          <p:spPr>
            <a:xfrm>
              <a:off x="0" y="2106445"/>
              <a:ext cx="4275464" cy="0"/>
            </a:xfrm>
            <a:prstGeom prst="straightConnector1">
              <a:avLst/>
            </a:prstGeom>
            <a:solidFill>
              <a:schemeClr val="accent6"/>
            </a:solidFill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" name="Google Shape;131;p21"/>
            <p:cNvSpPr/>
            <p:nvPr/>
          </p:nvSpPr>
          <p:spPr>
            <a:xfrm>
              <a:off x="0" y="2106445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1"/>
            <p:cNvSpPr txBox="1"/>
            <p:nvPr/>
          </p:nvSpPr>
          <p:spPr>
            <a:xfrm>
              <a:off x="0" y="2106445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-CO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Desarrollo a la medida</a:t>
              </a:r>
              <a:endParaRPr/>
            </a:p>
          </p:txBody>
        </p:sp>
        <p:cxnSp>
          <p:nvCxnSpPr>
            <p:cNvPr id="133" name="Google Shape;133;p21"/>
            <p:cNvCxnSpPr/>
            <p:nvPr/>
          </p:nvCxnSpPr>
          <p:spPr>
            <a:xfrm>
              <a:off x="0" y="2632671"/>
              <a:ext cx="4275464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" name="Google Shape;134;p21"/>
            <p:cNvSpPr/>
            <p:nvPr/>
          </p:nvSpPr>
          <p:spPr>
            <a:xfrm>
              <a:off x="0" y="2632671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0" y="2632671"/>
              <a:ext cx="4275464" cy="52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-CO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Modular*</a:t>
              </a:r>
              <a:endParaRPr/>
            </a:p>
          </p:txBody>
        </p:sp>
      </p:grpSp>
      <p:pic>
        <p:nvPicPr>
          <p:cNvPr id="136" name="Google Shape;1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307" y="1690985"/>
            <a:ext cx="4370693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/>
        </p:nvSpPr>
        <p:spPr>
          <a:xfrm>
            <a:off x="4821691" y="4557080"/>
            <a:ext cx="438453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*Algunas funciones pueden no estar disponibles al momento de esta presentación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697720" y="-2045577"/>
            <a:ext cx="13979196" cy="8683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xi" id="143" name="Google Shape;1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7855" y="3251201"/>
            <a:ext cx="528046" cy="463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-995131"/>
            <a:ext cx="9144000" cy="696861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>
            <p:ph type="title"/>
          </p:nvPr>
        </p:nvSpPr>
        <p:spPr>
          <a:xfrm>
            <a:off x="311150" y="4704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¿Es viable?</a:t>
            </a:r>
            <a:endParaRPr/>
          </a:p>
        </p:txBody>
      </p:sp>
      <p:pic>
        <p:nvPicPr>
          <p:cNvPr descr="Interfaz de usuario gráfica, Aplicación, Excel  El contenido generado por IA puede ser incorrecto." id="146" name="Google Shape;1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" y="915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/>
          <p:nvPr/>
        </p:nvSpPr>
        <p:spPr>
          <a:xfrm>
            <a:off x="3253253" y="1364555"/>
            <a:ext cx="5611347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existe un censo oficial con un número exacto y definitivo</a:t>
            </a:r>
            <a:r>
              <a:rPr b="0" i="0" lang="es-CO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pero se registran activamente más de </a:t>
            </a:r>
            <a:r>
              <a:rPr b="1" i="0" lang="es-CO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 establecimientos comerciales</a:t>
            </a:r>
            <a:r>
              <a:rPr b="0" i="0" lang="es-CO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especializados en el sector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124450" y="1612013"/>
            <a:ext cx="299312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Barrio:</a:t>
            </a:r>
            <a:br>
              <a:rPr b="0" i="0" lang="es-CO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CO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El Vergel</a:t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2860869" y="4505917"/>
            <a:ext cx="12566261" cy="2539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050" u="sng" cap="none" strike="noStrike">
                <a:solidFill>
                  <a:srgbClr val="C58AF9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https://portal1.contraloriabogota.gov.co/sites/default/files/Contenido/Informes/Auditoria/Participaci%C3%B3n%20Ciudadana/PAD_2005/FaseI/14_MARTIRES/INFORME%20FINAL%2014%20de%20junio.doc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99" y="0"/>
            <a:ext cx="9144000" cy="5679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xi" id="155" name="Google Shape;1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7855" y="3251201"/>
            <a:ext cx="528046" cy="46376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>
            <p:ph type="title"/>
          </p:nvPr>
        </p:nvSpPr>
        <p:spPr>
          <a:xfrm>
            <a:off x="311150" y="4704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¿Es viable?</a:t>
            </a:r>
            <a:endParaRPr/>
          </a:p>
        </p:txBody>
      </p:sp>
      <p:pic>
        <p:nvPicPr>
          <p:cNvPr descr="Interfaz de usuario gráfica, Aplicación, Excel  El contenido generado por IA puede ser incorrecto." id="157" name="Google Shape;1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15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201701" y="1043125"/>
            <a:ext cx="87084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 zona, junto con barrios vecinos como </a:t>
            </a:r>
            <a:r>
              <a:rPr b="1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Paloquemao, Santa Isabel y Ricaurte</a:t>
            </a: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conforma uno de los núcleos comerciales e industriales de mecánica y repuestos más importantes del centro de la ciudad.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149501" y="4494871"/>
            <a:ext cx="4994499" cy="2769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https://www.sdp.gov.co/sites/default/files/upz_no_37_santa_isabel.pdf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xi" id="164" name="Google Shape;1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3884" y="-2169908"/>
            <a:ext cx="3223791" cy="446005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>
            <p:ph type="title"/>
          </p:nvPr>
        </p:nvSpPr>
        <p:spPr>
          <a:xfrm>
            <a:off x="311150" y="4704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¿Es viable?</a:t>
            </a:r>
            <a:endParaRPr/>
          </a:p>
        </p:txBody>
      </p:sp>
      <p:pic>
        <p:nvPicPr>
          <p:cNvPr descr="Interfaz de usuario gráfica, Aplicación, Excel  El contenido generado por IA puede ser incorrecto." id="166" name="Google Shape;1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9" y="915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/>
          <p:nvPr/>
        </p:nvSpPr>
        <p:spPr>
          <a:xfrm>
            <a:off x="335107" y="1294477"/>
            <a:ext cx="306849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Bogotá, los comercios que tienen menos de 10 empleados se catalogan técnicamente como </a:t>
            </a:r>
            <a:r>
              <a:rPr b="1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micronegocios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un segmento que abarca más de </a:t>
            </a:r>
            <a:r>
              <a:rPr b="1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508,000 unidades productivas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la ciudad.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2920151" y="4241395"/>
            <a:ext cx="6099399" cy="46166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https://desarrolloeconomico.gov.co/radiografia-de-la-informalidad-en-bogota-el-767-de-los-micronegocios-son-informales-pero-no-todos-por-las-mismas-razones/89978449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2613" y="756775"/>
            <a:ext cx="2494937" cy="144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5325" y="1550011"/>
            <a:ext cx="2983548" cy="248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77550" y="2008660"/>
            <a:ext cx="2983548" cy="2328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xi" id="176" name="Google Shape;1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-1901356"/>
            <a:ext cx="8347423" cy="763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>
            <p:ph type="title"/>
          </p:nvPr>
        </p:nvSpPr>
        <p:spPr>
          <a:xfrm>
            <a:off x="311150" y="4704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¿Es viable?</a:t>
            </a:r>
            <a:endParaRPr/>
          </a:p>
        </p:txBody>
      </p:sp>
      <p:pic>
        <p:nvPicPr>
          <p:cNvPr descr="Interfaz de usuario gráfica, Aplicación, Excel  El contenido generado por IA puede ser incorrecto." id="178" name="Google Shape;1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15"/>
            <a:ext cx="9144000" cy="51425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" name="Google Shape;179;p25"/>
          <p:cNvGraphicFramePr/>
          <p:nvPr/>
        </p:nvGraphicFramePr>
        <p:xfrm>
          <a:off x="204450" y="1433480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BE7F6"/>
                    </a:gs>
                    <a:gs pos="35000">
                      <a:srgbClr val="BBEBF7"/>
                    </a:gs>
                    <a:gs pos="100000">
                      <a:srgbClr val="E4F9FC"/>
                    </a:gs>
                  </a:gsLst>
                  <a:lin ang="16200000" scaled="0"/>
                </a:gradFill>
                <a:tableStyleId>{F341A6FB-C6F7-4703-9D0C-3FA6B94D453F}</a:tableStyleId>
              </a:tblPr>
              <a:tblGrid>
                <a:gridCol w="1155475"/>
                <a:gridCol w="2238275"/>
                <a:gridCol w="973800"/>
              </a:tblGrid>
              <a:tr h="4207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000000"/>
                          </a:solidFill>
                        </a:rPr>
                        <a:t>Ítem CAPEX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000000"/>
                          </a:solidFill>
                        </a:rPr>
                        <a:t>Descripción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000000"/>
                          </a:solidFill>
                        </a:rPr>
                        <a:t>Costo Estimado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</a:tr>
              <a:tr h="737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Desarrollo del prototipo v1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Horas equipo de desarrollo: diseño, codificación, pruebas, documentación. Aproximadamente 120 horas equipo por $20.000/h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$2.400.000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</a:tr>
              <a:tr h="579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Equipos de cómputo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Un computador o tablet en el taller para ejecutar la aplicación. ASC ya dispone de dispositivos básicos.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$0 (ya disponible)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</a:tr>
              <a:tr h="4207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Licencias de software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Java, React, capacitor 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$0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</a:tr>
              <a:tr h="579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Capacitación inicial del personal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4 empleados por 2 horas de inducción y un facilitador interno del equipo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$0 (equipo académico)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</a:tr>
              <a:tr h="280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TOTAL CAPEX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000" u="none" cap="none" strike="noStrike">
                          <a:solidFill>
                            <a:srgbClr val="000000"/>
                          </a:solidFill>
                        </a:rPr>
                        <a:t>$2.400.000</a:t>
                      </a:r>
                      <a:endParaRPr sz="1400" u="none" cap="none" strike="noStrike"/>
                    </a:p>
                  </a:txBody>
                  <a:tcPr marT="52075" marB="52075" marR="78100" marL="78100"/>
                </a:tc>
              </a:tr>
            </a:tbl>
          </a:graphicData>
        </a:graphic>
      </p:graphicFrame>
      <p:grpSp>
        <p:nvGrpSpPr>
          <p:cNvPr id="180" name="Google Shape;180;p25"/>
          <p:cNvGrpSpPr/>
          <p:nvPr/>
        </p:nvGrpSpPr>
        <p:grpSpPr>
          <a:xfrm>
            <a:off x="4671993" y="1512635"/>
            <a:ext cx="4347557" cy="2802190"/>
            <a:chOff x="0" y="0"/>
            <a:chExt cx="4347557" cy="2802190"/>
          </a:xfrm>
        </p:grpSpPr>
        <p:sp>
          <p:nvSpPr>
            <p:cNvPr id="181" name="Google Shape;181;p25"/>
            <p:cNvSpPr/>
            <p:nvPr/>
          </p:nvSpPr>
          <p:spPr>
            <a:xfrm>
              <a:off x="0" y="0"/>
              <a:ext cx="4347557" cy="2802190"/>
            </a:xfrm>
            <a:prstGeom prst="roundRect">
              <a:avLst>
                <a:gd fmla="val 85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5"/>
            <p:cNvSpPr txBox="1"/>
            <p:nvPr/>
          </p:nvSpPr>
          <p:spPr>
            <a:xfrm>
              <a:off x="69762" y="69762"/>
              <a:ext cx="4208033" cy="2662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748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O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Licencia de uso: 150.000COP</a:t>
              </a:r>
              <a:endParaRPr/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108688" y="700547"/>
              <a:ext cx="652133" cy="1961533"/>
            </a:xfrm>
            <a:prstGeom prst="roundRect">
              <a:avLst>
                <a:gd fmla="val 10500" name="adj"/>
              </a:avLst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5"/>
            <p:cNvSpPr txBox="1"/>
            <p:nvPr/>
          </p:nvSpPr>
          <p:spPr>
            <a:xfrm>
              <a:off x="128743" y="720602"/>
              <a:ext cx="612023" cy="1921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s-CO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Basado en el costo de otras herramientas como “dora.com.co”</a:t>
              </a:r>
              <a:endParaRPr/>
            </a:p>
          </p:txBody>
        </p:sp>
        <p:sp>
          <p:nvSpPr>
            <p:cNvPr id="185" name="Google Shape;185;p25"/>
            <p:cNvSpPr/>
            <p:nvPr/>
          </p:nvSpPr>
          <p:spPr>
            <a:xfrm>
              <a:off x="869511" y="700547"/>
              <a:ext cx="3369356" cy="1961533"/>
            </a:xfrm>
            <a:prstGeom prst="roundRect">
              <a:avLst>
                <a:gd fmla="val 10500" name="adj"/>
              </a:avLst>
            </a:prstGeom>
            <a:solidFill>
              <a:srgbClr val="5AD15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5"/>
            <p:cNvSpPr txBox="1"/>
            <p:nvPr/>
          </p:nvSpPr>
          <p:spPr>
            <a:xfrm>
              <a:off x="929835" y="760871"/>
              <a:ext cx="3248708" cy="1840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45550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CO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Inversión de desarrollo a la medida (uso de componentes modulares)</a:t>
              </a:r>
              <a:endParaRPr/>
            </a:p>
          </p:txBody>
        </p:sp>
        <p:sp>
          <p:nvSpPr>
            <p:cNvPr id="187" name="Google Shape;187;p25"/>
            <p:cNvSpPr/>
            <p:nvPr/>
          </p:nvSpPr>
          <p:spPr>
            <a:xfrm>
              <a:off x="953745" y="1387084"/>
              <a:ext cx="673871" cy="1127881"/>
            </a:xfrm>
            <a:prstGeom prst="roundRect">
              <a:avLst>
                <a:gd fmla="val 10500" name="adj"/>
              </a:avLst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5AD1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5"/>
            <p:cNvSpPr txBox="1"/>
            <p:nvPr/>
          </p:nvSpPr>
          <p:spPr>
            <a:xfrm>
              <a:off x="974469" y="1407808"/>
              <a:ext cx="632423" cy="1086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-CO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4h: 80.000COP </a:t>
              </a:r>
              <a:endParaRPr/>
            </a:p>
          </p:txBody>
        </p:sp>
        <p:sp>
          <p:nvSpPr>
            <p:cNvPr id="189" name="Google Shape;189;p25"/>
            <p:cNvSpPr/>
            <p:nvPr/>
          </p:nvSpPr>
          <p:spPr>
            <a:xfrm>
              <a:off x="1717285" y="1401095"/>
              <a:ext cx="2412894" cy="1120876"/>
            </a:xfrm>
            <a:prstGeom prst="roundRect">
              <a:avLst>
                <a:gd fmla="val 10500" name="adj"/>
              </a:avLst>
            </a:prstGeom>
            <a:solidFill>
              <a:srgbClr val="FEA9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5"/>
            <p:cNvSpPr txBox="1"/>
            <p:nvPr/>
          </p:nvSpPr>
          <p:spPr>
            <a:xfrm>
              <a:off x="1751756" y="1435566"/>
              <a:ext cx="2343952" cy="1051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265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O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Punto de equilibrio</a:t>
              </a:r>
              <a:endParaRPr/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1777607" y="1905489"/>
              <a:ext cx="2292249" cy="504394"/>
            </a:xfrm>
            <a:prstGeom prst="roundRect">
              <a:avLst>
                <a:gd fmla="val 10500" name="adj"/>
              </a:avLst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rgbClr val="FEA9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5"/>
            <p:cNvSpPr txBox="1"/>
            <p:nvPr/>
          </p:nvSpPr>
          <p:spPr>
            <a:xfrm>
              <a:off x="1793119" y="1921001"/>
              <a:ext cx="2261225" cy="473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35 licencias -&gt; 6,89%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/>
          <p:nvPr>
            <p:ph type="ctrTitle"/>
          </p:nvPr>
        </p:nvSpPr>
        <p:spPr>
          <a:xfrm>
            <a:off x="311700" y="2400300"/>
            <a:ext cx="85206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CO" sz="4000"/>
              <a:t>Gracias</a:t>
            </a:r>
            <a:endParaRPr/>
          </a:p>
        </p:txBody>
      </p:sp>
      <p:sp>
        <p:nvSpPr>
          <p:cNvPr id="198" name="Google Shape;198;p11"/>
          <p:cNvSpPr txBox="1"/>
          <p:nvPr>
            <p:ph idx="1" type="subTitle"/>
          </p:nvPr>
        </p:nvSpPr>
        <p:spPr>
          <a:xfrm>
            <a:off x="311700" y="3634225"/>
            <a:ext cx="85206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</a:pPr>
            <a:r>
              <a:rPr lang="es-CO"/>
              <a:t>Veamos la app…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Estudiante</dc:creator>
</cp:coreProperties>
</file>