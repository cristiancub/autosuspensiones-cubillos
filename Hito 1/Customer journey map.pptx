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F3E925-54C7-401A-AEE9-A7ADF6180F69}">
  <a:tblStyle styleId="{94F3E925-54C7-401A-AEE9-A7ADF6180F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71f75afb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71f75afb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71f75afb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71f75afb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0" y="-9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{94F3E925-54C7-401A-AEE9-A7ADF6180F69}</a:tableStyleId>
              </a:tblPr>
              <a:tblGrid>
                <a:gridCol w="2242350"/>
                <a:gridCol w="2242350"/>
                <a:gridCol w="2242350"/>
                <a:gridCol w="2242350"/>
              </a:tblGrid>
              <a:tr h="8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Fases 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Pre-servicio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Consulta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Entrega del vehículo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76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Etapa / Actividad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</a:rPr>
                        <a:t>Identificación del fallo:</a:t>
                      </a:r>
                      <a:r>
                        <a:rPr lang="es" sz="1100">
                          <a:solidFill>
                            <a:schemeClr val="dk1"/>
                          </a:solidFill>
                        </a:rPr>
                        <a:t> El conductor nota un problema en la suspensión mientras trabaja.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</a:rPr>
                        <a:t>Arribo y Recepción:</a:t>
                      </a:r>
                      <a:r>
                        <a:rPr lang="es" sz="1100">
                          <a:solidFill>
                            <a:schemeClr val="dk1"/>
                          </a:solidFill>
                        </a:rPr>
                        <a:t> Llega al local físico para la consulta inicial.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Diagnóstico del vehiculo:</a:t>
                      </a:r>
                      <a:r>
                        <a:rPr lang="es" sz="1100"/>
                        <a:t> El mecánico revisa visualmente el problema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94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Puntos de Contacto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El vehículo, reconocimiento local.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Local de resparaciónl, el mecánico jefe.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Herramientas de diagnóstico, presupuesto verbal o digital.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41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Sensaciones (Taxista)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83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Conclusiones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El conductor de taxi vive esta etapa con una presión económica alta, ya que cualquier ruido en la suspensión representa una amenaza directa a su sustento diario y a la seguridad del vehículo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 La fachada del local y la atención inicial son críticas para generar confianza en un mercado donde la reputación y el "prestigio del mecánico" son las principales barreras de entrada para la competencia.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El mecanico tiene que tener el conocimiento con el cual determina si puede o no conseguir los respuestos para el vehiculo.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55" name="Google Shape;55;p13"/>
          <p:cNvCxnSpPr/>
          <p:nvPr/>
        </p:nvCxnSpPr>
        <p:spPr>
          <a:xfrm flipH="1" rot="10800000">
            <a:off x="1377725" y="3228400"/>
            <a:ext cx="76968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13"/>
          <p:cNvCxnSpPr/>
          <p:nvPr/>
        </p:nvCxnSpPr>
        <p:spPr>
          <a:xfrm flipH="1" rot="10800000">
            <a:off x="1377725" y="3502900"/>
            <a:ext cx="76968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3"/>
          <p:cNvCxnSpPr/>
          <p:nvPr/>
        </p:nvCxnSpPr>
        <p:spPr>
          <a:xfrm flipH="1" rot="10800000">
            <a:off x="1377725" y="3699400"/>
            <a:ext cx="76968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/>
          <p:nvPr/>
        </p:nvSpPr>
        <p:spPr>
          <a:xfrm>
            <a:off x="1304250" y="3150400"/>
            <a:ext cx="174600" cy="1836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1304250" y="3385900"/>
            <a:ext cx="174600" cy="1836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1304250" y="3621400"/>
            <a:ext cx="174600" cy="18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3229325" y="3424900"/>
            <a:ext cx="174600" cy="1836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7891825" y="3621400"/>
            <a:ext cx="174600" cy="18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5567725" y="3150400"/>
            <a:ext cx="174600" cy="1836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Google Shape;68;p14"/>
          <p:cNvGraphicFramePr/>
          <p:nvPr/>
        </p:nvGraphicFramePr>
        <p:xfrm>
          <a:off x="87300" y="6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{94F3E925-54C7-401A-AEE9-A7ADF6180F69}</a:tableStyleId>
              </a:tblPr>
              <a:tblGrid>
                <a:gridCol w="2242350"/>
                <a:gridCol w="2242350"/>
                <a:gridCol w="2242350"/>
                <a:gridCol w="2242350"/>
              </a:tblGrid>
              <a:tr h="8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Fases 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Reparación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Entrega final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Post-servicio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76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Etapa / Actividad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</a:rPr>
                        <a:t>Ejecución:</a:t>
                      </a:r>
                      <a:r>
                        <a:rPr lang="es" sz="1100">
                          <a:solidFill>
                            <a:schemeClr val="dk1"/>
                          </a:solidFill>
                        </a:rPr>
                        <a:t> El taller gestiona repuestos e inicia el trabajo.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</a:rPr>
                        <a:t>Verificación y Pago: </a:t>
                      </a:r>
                      <a:r>
                        <a:rPr lang="es" sz="1100">
                          <a:solidFill>
                            <a:schemeClr val="dk1"/>
                          </a:solidFill>
                        </a:rPr>
                        <a:t>Se entrega el vehículo reparado y se valida el estado.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Recomendación: </a:t>
                      </a:r>
                      <a:r>
                        <a:rPr lang="es" sz="1100"/>
                        <a:t>El cliente comparte su experiencia con otros conductores.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83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Puntos de Contacto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Zona de espera del taller, notificaciones al celular.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El vehículo reparado, factura.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"Boca a boca"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27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Sensaciones (Taxista)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21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Conclusiones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El taller debe gestionar no solo la mano de obra sino la llegada de cada repuesto para no prolongar la inactividad del taxi y inpaciencia del cliente.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lang="es" sz="1100">
                          <a:solidFill>
                            <a:schemeClr val="dk1"/>
                          </a:solidFill>
                        </a:rPr>
                        <a:t>ntregar el vehículo con una garantía y constancia del estado físico permite al taller blindarse legalmente y fidelizar al cliente ante la alta rivalidad del sector.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El cliente por su mismo gusto quiera difundir un comentario positivo sobre el negocio.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69" name="Google Shape;69;p14"/>
          <p:cNvCxnSpPr/>
          <p:nvPr/>
        </p:nvCxnSpPr>
        <p:spPr>
          <a:xfrm flipH="1" rot="10800000">
            <a:off x="1377725" y="3228400"/>
            <a:ext cx="76968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4"/>
          <p:cNvCxnSpPr/>
          <p:nvPr/>
        </p:nvCxnSpPr>
        <p:spPr>
          <a:xfrm flipH="1" rot="10800000">
            <a:off x="1377725" y="3502900"/>
            <a:ext cx="76968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4"/>
          <p:cNvCxnSpPr/>
          <p:nvPr/>
        </p:nvCxnSpPr>
        <p:spPr>
          <a:xfrm flipH="1" rot="10800000">
            <a:off x="1377725" y="3699400"/>
            <a:ext cx="76968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4"/>
          <p:cNvSpPr/>
          <p:nvPr/>
        </p:nvSpPr>
        <p:spPr>
          <a:xfrm>
            <a:off x="1304250" y="3150400"/>
            <a:ext cx="174600" cy="1836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1304250" y="3385900"/>
            <a:ext cx="174600" cy="1836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1304250" y="3621400"/>
            <a:ext cx="174600" cy="18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7849275" y="3621400"/>
            <a:ext cx="174600" cy="18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3229325" y="3621400"/>
            <a:ext cx="174600" cy="18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5558550" y="3150400"/>
            <a:ext cx="174600" cy="1836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