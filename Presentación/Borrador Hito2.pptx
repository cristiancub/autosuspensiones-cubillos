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Tmw1iB1foXMZiOuH/T2gdmQIo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0" y="381000"/>
            <a:ext cx="85206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3072250"/>
            <a:ext cx="8520600" cy="7926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9525">
              <a:srgbClr val="000000">
                <a:alpha val="9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  <a:defRPr sz="2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body"/>
          </p:nvPr>
        </p:nvSpPr>
        <p:spPr>
          <a:xfrm>
            <a:off x="247650" y="1152475"/>
            <a:ext cx="87084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ctrTitle"/>
          </p:nvPr>
        </p:nvSpPr>
        <p:spPr>
          <a:xfrm>
            <a:off x="311700" y="2400300"/>
            <a:ext cx="8520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6" name="Google Shape;26;p17"/>
          <p:cNvSpPr txBox="1"/>
          <p:nvPr>
            <p:ph idx="1" type="subTitle"/>
          </p:nvPr>
        </p:nvSpPr>
        <p:spPr>
          <a:xfrm>
            <a:off x="311700" y="3634225"/>
            <a:ext cx="85206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  <a:defRPr b="1" sz="1600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311700" y="828675"/>
            <a:ext cx="85206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2800"/>
              <a:buFont typeface="Trebuchet MS"/>
              <a:buNone/>
              <a:defRPr b="1" i="0" sz="2800" u="none" cap="none" strike="noStrike">
                <a:solidFill>
                  <a:srgbClr val="1F204D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7650" y="1152475"/>
            <a:ext cx="87084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Trebuchet MS"/>
              <a:buChar char="●"/>
              <a:defRPr b="0" i="0" sz="18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○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■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●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○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■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●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rebuchet MS"/>
              <a:buChar char="○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Trebuchet MS"/>
              <a:buChar char="■"/>
              <a:defRPr b="0" i="0" sz="1400" u="none" cap="none" strike="noStrike">
                <a:solidFill>
                  <a:srgbClr val="43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07425" y="-1"/>
            <a:ext cx="548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6D97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5.png"/><Relationship Id="rId10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10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hyperlink" Target="https://lucid.app/lucidchart/f07d86cd-d5ea-4adc-a58c-7ef54a38a7b3/edit?beaconFlowId=986759872EFE409E&amp;invitationId=inv_2d636738-93e0-431a-9fdb-148d0e1bfab9&amp;page=0_0" TargetMode="External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or a reacción girando"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2244" y="-30194178"/>
            <a:ext cx="87916488" cy="66452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faz de usuario gráfica  El contenido generado por IA puede ser incorrecto." id="35" name="Google Shape;3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 txBox="1"/>
          <p:nvPr>
            <p:ph type="ctrTitle"/>
          </p:nvPr>
        </p:nvSpPr>
        <p:spPr>
          <a:xfrm>
            <a:off x="311700" y="381000"/>
            <a:ext cx="85206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O"/>
              <a:t>Autosuspensiones Cubillos</a:t>
            </a:r>
            <a:br>
              <a:rPr lang="es-CO"/>
            </a:br>
            <a:r>
              <a:rPr i="1" lang="es-CO" sz="3600">
                <a:solidFill>
                  <a:srgbClr val="DDDDDD"/>
                </a:solidFill>
              </a:rPr>
              <a:t>Hito 2</a:t>
            </a:r>
            <a:endParaRPr i="1">
              <a:solidFill>
                <a:srgbClr val="DDDDDD"/>
              </a:solidFill>
            </a:endParaRPr>
          </a:p>
        </p:txBody>
      </p:sp>
      <p:sp>
        <p:nvSpPr>
          <p:cNvPr id="37" name="Google Shape;37;p1"/>
          <p:cNvSpPr txBox="1"/>
          <p:nvPr>
            <p:ph idx="1" type="subTitle"/>
          </p:nvPr>
        </p:nvSpPr>
        <p:spPr>
          <a:xfrm>
            <a:off x="311700" y="2857499"/>
            <a:ext cx="8520600" cy="1264227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st="9525">
              <a:srgbClr val="000000">
                <a:alpha val="9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Santiago Zamora Garzón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Cristian Fabián Cubillos Mora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Gabriel Jeronimo Puentes Umbarila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Luis Rodrigo Rivera Rivera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 sz="1400"/>
              <a:t>Diego Fernando Quintero Gómez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or a reacción girando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32162" y="-5855755"/>
            <a:ext cx="24456324" cy="1777556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0" y="-1"/>
            <a:ext cx="9147290" cy="5142585"/>
          </a:xfrm>
          <a:prstGeom prst="rect">
            <a:avLst/>
          </a:prstGeom>
          <a:gradFill>
            <a:gsLst>
              <a:gs pos="0">
                <a:srgbClr val="FFFFFF">
                  <a:alpha val="52941"/>
                </a:srgbClr>
              </a:gs>
              <a:gs pos="100000">
                <a:srgbClr val="A5A5A5">
                  <a:alpha val="69019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Aplicación, Excel  El contenido generado por IA puede ser incorrecto.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El proyecto</a:t>
            </a:r>
            <a:endParaRPr/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360" y="1156698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2358" y="1156698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8411" y="1156698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4360" y="3234577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32358" y="3234577"/>
            <a:ext cx="2479284" cy="13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8411" y="3234806"/>
            <a:ext cx="2479284" cy="139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or a reacción girando"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255" y="-3152524"/>
            <a:ext cx="18020652" cy="1316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Aprendizajes posteriores al Hito 1</a:t>
            </a:r>
            <a:endParaRPr/>
          </a:p>
        </p:txBody>
      </p:sp>
      <p:grpSp>
        <p:nvGrpSpPr>
          <p:cNvPr id="59" name="Google Shape;59;p3"/>
          <p:cNvGrpSpPr/>
          <p:nvPr/>
        </p:nvGrpSpPr>
        <p:grpSpPr>
          <a:xfrm>
            <a:off x="807317" y="1153452"/>
            <a:ext cx="3008665" cy="3414445"/>
            <a:chOff x="495617" y="977"/>
            <a:chExt cx="3008665" cy="3414445"/>
          </a:xfrm>
        </p:grpSpPr>
        <p:sp>
          <p:nvSpPr>
            <p:cNvPr id="60" name="Google Shape;60;p3"/>
            <p:cNvSpPr/>
            <p:nvPr/>
          </p:nvSpPr>
          <p:spPr>
            <a:xfrm rot="10800000">
              <a:off x="844349" y="977"/>
              <a:ext cx="2659933" cy="697463"/>
            </a:xfrm>
            <a:prstGeom prst="homePlate">
              <a:avLst>
                <a:gd fmla="val 50000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1018715" y="977"/>
              <a:ext cx="2485567" cy="697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307550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O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Desarrollo a la medida</a:t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95617" y="977"/>
              <a:ext cx="697463" cy="697463"/>
            </a:xfrm>
            <a:prstGeom prst="ellips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 rot="10800000">
              <a:off x="844349" y="906638"/>
              <a:ext cx="2659933" cy="697463"/>
            </a:xfrm>
            <a:prstGeom prst="homePlate">
              <a:avLst>
                <a:gd fmla="val 5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 txBox="1"/>
            <p:nvPr/>
          </p:nvSpPr>
          <p:spPr>
            <a:xfrm>
              <a:off x="1018715" y="906638"/>
              <a:ext cx="2485567" cy="697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307550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O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Mercado diferente</a:t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95617" y="906638"/>
              <a:ext cx="697463" cy="697463"/>
            </a:xfrm>
            <a:prstGeom prst="ellips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rot="10800000">
              <a:off x="844349" y="1812298"/>
              <a:ext cx="2659933" cy="697463"/>
            </a:xfrm>
            <a:prstGeom prst="homePlate">
              <a:avLst>
                <a:gd fmla="val 50000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 txBox="1"/>
            <p:nvPr/>
          </p:nvSpPr>
          <p:spPr>
            <a:xfrm>
              <a:off x="1018715" y="1812298"/>
              <a:ext cx="2485567" cy="697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307550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O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Necesidades similares en los stakeholders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95617" y="1812298"/>
              <a:ext cx="697463" cy="697463"/>
            </a:xfrm>
            <a:prstGeom prst="ellips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 rot="10800000">
              <a:off x="844349" y="2717959"/>
              <a:ext cx="2659933" cy="697463"/>
            </a:xfrm>
            <a:prstGeom prst="homePlate">
              <a:avLst>
                <a:gd fmla="val 50000" name="adj"/>
              </a:avLst>
            </a:prstGeom>
            <a:solidFill>
              <a:schemeClr val="accent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 txBox="1"/>
            <p:nvPr/>
          </p:nvSpPr>
          <p:spPr>
            <a:xfrm>
              <a:off x="1018715" y="2717959"/>
              <a:ext cx="2485567" cy="697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307550" spcFirstLastPara="1" rIns="1137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O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Mucho trabajo por hacer …</a:t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95617" y="2717959"/>
              <a:ext cx="697463" cy="697463"/>
            </a:xfrm>
            <a:prstGeom prst="ellipse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or a reacción girando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2038" y="1658407"/>
            <a:ext cx="10539075" cy="6080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Del problema al planteamiento de la solución</a:t>
            </a:r>
            <a:endParaRPr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Para crear el prototipo de la idea se usó inicialmente la IA Claude y sobre el código generado se itero hasta completar el primer prototipo.</a:t>
            </a:r>
            <a:endParaRPr/>
          </a:p>
        </p:txBody>
      </p:sp>
      <p:grpSp>
        <p:nvGrpSpPr>
          <p:cNvPr id="80" name="Google Shape;80;p4"/>
          <p:cNvGrpSpPr/>
          <p:nvPr/>
        </p:nvGrpSpPr>
        <p:grpSpPr>
          <a:xfrm>
            <a:off x="4832400" y="1152475"/>
            <a:ext cx="3999900" cy="3415564"/>
            <a:chOff x="0" y="0"/>
            <a:chExt cx="3999900" cy="3415564"/>
          </a:xfrm>
        </p:grpSpPr>
        <p:sp>
          <p:nvSpPr>
            <p:cNvPr id="81" name="Google Shape;81;p4"/>
            <p:cNvSpPr/>
            <p:nvPr/>
          </p:nvSpPr>
          <p:spPr>
            <a:xfrm>
              <a:off x="0" y="0"/>
              <a:ext cx="3999900" cy="1626459"/>
            </a:xfrm>
            <a:prstGeom prst="roundRect">
              <a:avLst>
                <a:gd fmla="val 10000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 txBox="1"/>
            <p:nvPr/>
          </p:nvSpPr>
          <p:spPr>
            <a:xfrm>
              <a:off x="962625" y="0"/>
              <a:ext cx="3037274" cy="1626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925" lIns="201925" spcFirstLastPara="1" rIns="201925" wrap="square" tIns="201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0"/>
                <a:buFont typeface="Arial"/>
                <a:buNone/>
              </a:pPr>
              <a:r>
                <a:rPr b="0" i="0" lang="es-CO" sz="5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Ligero</a:t>
              </a:r>
              <a:endPara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62645" y="162645"/>
              <a:ext cx="799980" cy="1301167"/>
            </a:xfrm>
            <a:prstGeom prst="roundRect">
              <a:avLst>
                <a:gd fmla="val 10000" name="adj"/>
              </a:avLst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0" y="1789105"/>
              <a:ext cx="3999900" cy="1626459"/>
            </a:xfrm>
            <a:prstGeom prst="roundRect">
              <a:avLst>
                <a:gd fmla="val 10000" name="adj"/>
              </a:avLst>
            </a:prstGeom>
            <a:solidFill>
              <a:srgbClr val="FFAA3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 txBox="1"/>
            <p:nvPr/>
          </p:nvSpPr>
          <p:spPr>
            <a:xfrm>
              <a:off x="962625" y="1789105"/>
              <a:ext cx="3037274" cy="1626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925" lIns="201925" spcFirstLastPara="1" rIns="201925" wrap="square" tIns="201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00"/>
                <a:buFont typeface="Arial"/>
                <a:buNone/>
              </a:pPr>
              <a:r>
                <a:rPr b="0" i="0" lang="es-CO" sz="5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Modular</a:t>
              </a:r>
              <a:endPara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162645" y="1951751"/>
              <a:ext cx="799980" cy="1301167"/>
            </a:xfrm>
            <a:prstGeom prst="roundRect">
              <a:avLst>
                <a:gd fmla="val 10000" name="adj"/>
              </a:avLst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tor a reacción girando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57438" y="2571750"/>
            <a:ext cx="7440732" cy="42926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Primer prototipo</a:t>
            </a:r>
            <a:endParaRPr/>
          </a:p>
        </p:txBody>
      </p:sp>
      <p:grpSp>
        <p:nvGrpSpPr>
          <p:cNvPr id="94" name="Google Shape;94;p5"/>
          <p:cNvGrpSpPr/>
          <p:nvPr/>
        </p:nvGrpSpPr>
        <p:grpSpPr>
          <a:xfrm>
            <a:off x="5668167" y="1324631"/>
            <a:ext cx="3098925" cy="1579033"/>
            <a:chOff x="0" y="0"/>
            <a:chExt cx="3098925" cy="1579033"/>
          </a:xfrm>
        </p:grpSpPr>
        <p:sp>
          <p:nvSpPr>
            <p:cNvPr id="95" name="Google Shape;95;p5"/>
            <p:cNvSpPr/>
            <p:nvPr/>
          </p:nvSpPr>
          <p:spPr>
            <a:xfrm>
              <a:off x="0" y="0"/>
              <a:ext cx="3098925" cy="4212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 txBox="1"/>
            <p:nvPr/>
          </p:nvSpPr>
          <p:spPr>
            <a:xfrm>
              <a:off x="20561" y="20561"/>
              <a:ext cx="3057803" cy="380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O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Refactorización 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0" y="442603"/>
              <a:ext cx="3098925" cy="1136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 txBox="1"/>
            <p:nvPr/>
          </p:nvSpPr>
          <p:spPr>
            <a:xfrm>
              <a:off x="0" y="442603"/>
              <a:ext cx="3098925" cy="1136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50" lIns="98375" spcFirstLastPara="1" rIns="128000" wrap="square" tIns="228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b="0" i="0" lang="es-CO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Interfaz que daban error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b="0" i="0" lang="es-CO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Panel de gestión de ventas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b="0" i="0" lang="es-CO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Responsive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b="0" i="0" lang="es-CO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del proyecto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b="0" i="0" lang="es-CO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Mejor uso de espacio en pantalla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" name="Google Shape;9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962" y="1276499"/>
            <a:ext cx="2358802" cy="1641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9223" y="1805886"/>
            <a:ext cx="2353865" cy="166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8190" y="2511339"/>
            <a:ext cx="2457015" cy="1660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Aplicación, Excel  El contenido generado por IA puede ser incorrecto.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2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tor a reacción girando" id="107" name="Google Shape;1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86944" y="4711447"/>
            <a:ext cx="1497119" cy="99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Arquitectura de Frontend y Componentización</a:t>
            </a:r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311700" y="1152474"/>
            <a:ext cx="3999900" cy="3416399"/>
            <a:chOff x="0" y="0"/>
            <a:chExt cx="3999900" cy="3416399"/>
          </a:xfrm>
        </p:grpSpPr>
        <p:cxnSp>
          <p:nvCxnSpPr>
            <p:cNvPr id="110" name="Google Shape;110;p6"/>
            <p:cNvCxnSpPr/>
            <p:nvPr/>
          </p:nvCxnSpPr>
          <p:spPr>
            <a:xfrm>
              <a:off x="0" y="0"/>
              <a:ext cx="39999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6"/>
            <p:cNvSpPr/>
            <p:nvPr/>
          </p:nvSpPr>
          <p:spPr>
            <a:xfrm>
              <a:off x="0" y="0"/>
              <a:ext cx="799980" cy="3416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6"/>
            <p:cNvSpPr txBox="1"/>
            <p:nvPr/>
          </p:nvSpPr>
          <p:spPr>
            <a:xfrm>
              <a:off x="0" y="0"/>
              <a:ext cx="799980" cy="3416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-CO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Diseño atómico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859978" y="40161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859978" y="40161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O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Átomos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2459938" y="40161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 txBox="1"/>
            <p:nvPr/>
          </p:nvSpPr>
          <p:spPr>
            <a:xfrm>
              <a:off x="2459938" y="40161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Botón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6"/>
            <p:cNvCxnSpPr/>
            <p:nvPr/>
          </p:nvCxnSpPr>
          <p:spPr>
            <a:xfrm>
              <a:off x="2399940" y="307639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6"/>
            <p:cNvSpPr/>
            <p:nvPr/>
          </p:nvSpPr>
          <p:spPr>
            <a:xfrm>
              <a:off x="2459938" y="307639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6"/>
            <p:cNvSpPr txBox="1"/>
            <p:nvPr/>
          </p:nvSpPr>
          <p:spPr>
            <a:xfrm>
              <a:off x="2459938" y="307639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Selector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" name="Google Shape;120;p6"/>
            <p:cNvCxnSpPr/>
            <p:nvPr/>
          </p:nvCxnSpPr>
          <p:spPr>
            <a:xfrm>
              <a:off x="2399940" y="575118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6"/>
            <p:cNvSpPr/>
            <p:nvPr/>
          </p:nvSpPr>
          <p:spPr>
            <a:xfrm>
              <a:off x="2459938" y="575118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 txBox="1"/>
            <p:nvPr/>
          </p:nvSpPr>
          <p:spPr>
            <a:xfrm>
              <a:off x="2459938" y="575118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Encabezado de sección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" name="Google Shape;123;p6"/>
            <p:cNvCxnSpPr/>
            <p:nvPr/>
          </p:nvCxnSpPr>
          <p:spPr>
            <a:xfrm>
              <a:off x="799979" y="843381"/>
              <a:ext cx="319992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6"/>
            <p:cNvSpPr/>
            <p:nvPr/>
          </p:nvSpPr>
          <p:spPr>
            <a:xfrm>
              <a:off x="859978" y="883542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859978" y="883542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O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Moléculas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2459938" y="883542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 txBox="1"/>
            <p:nvPr/>
          </p:nvSpPr>
          <p:spPr>
            <a:xfrm>
              <a:off x="2459938" y="883542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Barra superior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" name="Google Shape;128;p6"/>
            <p:cNvCxnSpPr/>
            <p:nvPr/>
          </p:nvCxnSpPr>
          <p:spPr>
            <a:xfrm>
              <a:off x="2399940" y="1151021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6"/>
            <p:cNvSpPr/>
            <p:nvPr/>
          </p:nvSpPr>
          <p:spPr>
            <a:xfrm>
              <a:off x="2459938" y="1151021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2459938" y="1151021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Campo de formulario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" name="Google Shape;131;p6"/>
            <p:cNvCxnSpPr/>
            <p:nvPr/>
          </p:nvCxnSpPr>
          <p:spPr>
            <a:xfrm>
              <a:off x="2399940" y="1418500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6"/>
            <p:cNvSpPr/>
            <p:nvPr/>
          </p:nvSpPr>
          <p:spPr>
            <a:xfrm>
              <a:off x="2459938" y="1418500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2459938" y="1418500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Diálogo de confirmación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6"/>
            <p:cNvCxnSpPr/>
            <p:nvPr/>
          </p:nvCxnSpPr>
          <p:spPr>
            <a:xfrm>
              <a:off x="799979" y="1686763"/>
              <a:ext cx="319992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6"/>
            <p:cNvSpPr/>
            <p:nvPr/>
          </p:nvSpPr>
          <p:spPr>
            <a:xfrm>
              <a:off x="859978" y="1726924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859978" y="1726924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O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Organismos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2459938" y="1726924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2459938" y="1726924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Tablero Kanban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6"/>
            <p:cNvCxnSpPr/>
            <p:nvPr/>
          </p:nvCxnSpPr>
          <p:spPr>
            <a:xfrm>
              <a:off x="2399940" y="1994403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p6"/>
            <p:cNvSpPr/>
            <p:nvPr/>
          </p:nvSpPr>
          <p:spPr>
            <a:xfrm>
              <a:off x="2459938" y="1994403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2459938" y="1994403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Lista de inventario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" name="Google Shape;142;p6"/>
            <p:cNvCxnSpPr/>
            <p:nvPr/>
          </p:nvCxnSpPr>
          <p:spPr>
            <a:xfrm>
              <a:off x="2399940" y="2261882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6"/>
            <p:cNvSpPr/>
            <p:nvPr/>
          </p:nvSpPr>
          <p:spPr>
            <a:xfrm>
              <a:off x="2459938" y="2261882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2459938" y="2261882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Búsqueda de vehículos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6"/>
            <p:cNvCxnSpPr/>
            <p:nvPr/>
          </p:nvCxnSpPr>
          <p:spPr>
            <a:xfrm>
              <a:off x="799979" y="2530145"/>
              <a:ext cx="319992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p6"/>
            <p:cNvSpPr/>
            <p:nvPr/>
          </p:nvSpPr>
          <p:spPr>
            <a:xfrm>
              <a:off x="859978" y="2570306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 txBox="1"/>
            <p:nvPr/>
          </p:nvSpPr>
          <p:spPr>
            <a:xfrm>
              <a:off x="859978" y="2570306"/>
              <a:ext cx="1539961" cy="80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O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Páginas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2459938" y="2570306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2459938" y="2570306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Inicio de sesión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" name="Google Shape;150;p6"/>
            <p:cNvCxnSpPr/>
            <p:nvPr/>
          </p:nvCxnSpPr>
          <p:spPr>
            <a:xfrm>
              <a:off x="2399940" y="2837785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" name="Google Shape;151;p6"/>
            <p:cNvSpPr/>
            <p:nvPr/>
          </p:nvSpPr>
          <p:spPr>
            <a:xfrm>
              <a:off x="2459938" y="2837785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2459938" y="2837785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Inventarios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" name="Google Shape;153;p6"/>
            <p:cNvCxnSpPr/>
            <p:nvPr/>
          </p:nvCxnSpPr>
          <p:spPr>
            <a:xfrm>
              <a:off x="2399940" y="3105264"/>
              <a:ext cx="1539961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6"/>
            <p:cNvSpPr/>
            <p:nvPr/>
          </p:nvSpPr>
          <p:spPr>
            <a:xfrm>
              <a:off x="2459938" y="3105264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2459938" y="3105264"/>
              <a:ext cx="1539961" cy="267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-CO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Historial de vehículos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" name="Google Shape;156;p6"/>
            <p:cNvCxnSpPr/>
            <p:nvPr/>
          </p:nvCxnSpPr>
          <p:spPr>
            <a:xfrm>
              <a:off x="799979" y="3373527"/>
              <a:ext cx="319992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rgbClr val="BBBBB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Suspensión trasera para coche Mesa Baja" id="157" name="Google Shape;1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096964" y="5708474"/>
            <a:ext cx="2210020" cy="1619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act original wordmark logo Icon" id="158" name="Google Shape;1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9456" y="1296165"/>
            <a:ext cx="2999333" cy="29993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spensión trasera para coche Mesa Baja"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87012" y="-3822819"/>
            <a:ext cx="12555033" cy="13076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tor a reacción girando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4996" y="-8580398"/>
            <a:ext cx="13561522" cy="10220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166" name="Google Shape;16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915"/>
            <a:ext cx="9144000" cy="51425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7"/>
          <p:cNvGrpSpPr/>
          <p:nvPr/>
        </p:nvGrpSpPr>
        <p:grpSpPr>
          <a:xfrm>
            <a:off x="392974" y="1558884"/>
            <a:ext cx="8655979" cy="2940132"/>
            <a:chOff x="4272" y="644483"/>
            <a:chExt cx="8655979" cy="2940132"/>
          </a:xfrm>
        </p:grpSpPr>
        <p:sp>
          <p:nvSpPr>
            <p:cNvPr id="168" name="Google Shape;168;p7"/>
            <p:cNvSpPr/>
            <p:nvPr/>
          </p:nvSpPr>
          <p:spPr>
            <a:xfrm>
              <a:off x="71825" y="794290"/>
              <a:ext cx="1756937" cy="1250256"/>
            </a:xfrm>
            <a:prstGeom prst="frame">
              <a:avLst>
                <a:gd fmla="val 5450" name="adj1"/>
              </a:avLst>
            </a:prstGeom>
            <a:solidFill>
              <a:srgbClr val="FFDABE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71825" y="2334359"/>
              <a:ext cx="1756937" cy="1250256"/>
            </a:xfrm>
            <a:prstGeom prst="frame">
              <a:avLst>
                <a:gd fmla="val 5450" name="adj1"/>
              </a:avLst>
            </a:prstGeom>
            <a:solidFill>
              <a:srgbClr val="FFDABE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3050180" y="794290"/>
              <a:ext cx="1756937" cy="1250256"/>
            </a:xfrm>
            <a:prstGeom prst="frame">
              <a:avLst>
                <a:gd fmla="val 5450" name="adj1"/>
              </a:avLst>
            </a:prstGeom>
            <a:solidFill>
              <a:srgbClr val="FFDABE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4272" y="644483"/>
              <a:ext cx="1689385" cy="118263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44999" l="0" r="0" t="-44999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40513" y="1827537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 txBox="1"/>
            <p:nvPr/>
          </p:nvSpPr>
          <p:spPr>
            <a:xfrm>
              <a:off x="140513" y="1827537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91425" spcFirstLastPara="1" rIns="9142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-CO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Correspondencia entre el sistema y el mundo real.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00289" y="794290"/>
              <a:ext cx="803252" cy="125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3050180" y="2334359"/>
              <a:ext cx="1756937" cy="1250256"/>
            </a:xfrm>
            <a:prstGeom prst="frame">
              <a:avLst>
                <a:gd fmla="val 5450" name="adj1"/>
              </a:avLst>
            </a:prstGeom>
            <a:solidFill>
              <a:srgbClr val="FFDABE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4272" y="2184553"/>
              <a:ext cx="1689385" cy="118263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22000" l="0" r="0" t="-2200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140513" y="3367606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140513" y="3367606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91425" spcFirstLastPara="1" rIns="9142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-CO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 y libertad del usuario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900289" y="2334359"/>
              <a:ext cx="803252" cy="125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6028535" y="794290"/>
              <a:ext cx="1756937" cy="1250256"/>
            </a:xfrm>
            <a:prstGeom prst="frame">
              <a:avLst>
                <a:gd fmla="val 5450" name="adj1"/>
              </a:avLst>
            </a:prstGeom>
            <a:solidFill>
              <a:srgbClr val="FFDABE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2982627" y="644483"/>
              <a:ext cx="1689385" cy="118263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4000" l="0" r="0" t="-400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3118868" y="1827537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3118868" y="1827537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91425" spcFirstLastPara="1" rIns="9142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-CO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Coherencia y estándares</a:t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4878644" y="794290"/>
              <a:ext cx="803252" cy="125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982627" y="2184553"/>
              <a:ext cx="1689385" cy="1182633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8001" l="0" r="0" t="-8001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3118868" y="3367606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3118868" y="3367606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91425" spcFirstLastPara="1" rIns="9142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-CO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Prevención de errores</a:t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4878644" y="2334359"/>
              <a:ext cx="803252" cy="125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5960982" y="644483"/>
              <a:ext cx="1689385" cy="1182633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-2000" r="-200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097223" y="1827537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6097223" y="1827537"/>
              <a:ext cx="1620696" cy="14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91425" spcFirstLastPara="1" rIns="9142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-CO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Estética y diseño minimalista</a:t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856999" y="794290"/>
              <a:ext cx="803252" cy="1250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7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Heuristica de Nielsen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spensión trasera para coche Mesa Baja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2813" y="-8558343"/>
            <a:ext cx="16201746" cy="1485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Hora de retroalimentación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247650" y="1127982"/>
            <a:ext cx="64579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se obtuvo el primer prototipo fue presentado a diferentes personas  para  evaluarlo y obtener una retroalimentación que ayude a corregir la versión posterior al prototipo actual.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Aplicación, Excel  El contenido generado por IA puede ser incorrecto.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575"/>
            <a:ext cx="9144000" cy="514258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164628" y="1759738"/>
            <a:ext cx="2095500" cy="911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5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mecánicos están acostumbrados a trabajar en un ambiente con grasa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493719" y="2738433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gradFill>
            <a:gsLst>
              <a:gs pos="0">
                <a:srgbClr val="FFFF7D"/>
              </a:gs>
              <a:gs pos="35000">
                <a:srgbClr val="FFFFA3"/>
              </a:gs>
              <a:gs pos="100000">
                <a:srgbClr val="FFFFD8"/>
              </a:gs>
            </a:gsLst>
            <a:lin ang="16200000" scaled="0"/>
          </a:gradFill>
          <a:ln cap="flat" cmpd="sng" w="9525">
            <a:solidFill>
              <a:srgbClr val="EBFD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Veamos para qué sirve el primero. Dice "Inventario de repuestos".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715466" y="2215279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4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¿Desde qué umbral lo consideran stock bajo?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647835" y="1759668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5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 quiero agregar una tarea, ¿cómo la creo?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64625" y="3649655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gradFill>
            <a:gsLst>
              <a:gs pos="0">
                <a:srgbClr val="FFFF7D"/>
              </a:gs>
              <a:gs pos="35000">
                <a:srgbClr val="FFFFA3"/>
              </a:gs>
              <a:gs pos="100000">
                <a:srgbClr val="FFFFD8"/>
              </a:gs>
            </a:gsLst>
            <a:lin ang="16200000" scaled="0"/>
          </a:gradFill>
          <a:ln cap="flat" cmpd="sng" w="9525">
            <a:solidFill>
              <a:srgbClr val="EBFD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 imagino que funciona igual. Veamos...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3144957" y="3769151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¿Hay alguna opción para exportar un reporte del día?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010866" y="2803592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5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¿Qué pasa si hay muchas herramientas?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369287" y="3659771"/>
            <a:ext cx="2095500" cy="911222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buscar un vehículo tengo que saber la placa de memoria, ¿cierto?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1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33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44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55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466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377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11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spensión trasera para coche Mesa Baja"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16804"/>
            <a:ext cx="17460355" cy="759742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Hora de retroalimentación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247650" y="1127982"/>
            <a:ext cx="64579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se obtuvo el primer prototipo fue presentado a diferentes personas  para  evaluarlo y obtener una retroalimentación que ayude a corregir la versión posterior al prototipo actual.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809" y="2361973"/>
            <a:ext cx="2603791" cy="199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0104" y="2069236"/>
            <a:ext cx="2603792" cy="258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4401" y="2069236"/>
            <a:ext cx="2621545" cy="2580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Excel  El contenido generado por IA puede ser incorrecto." id="220" name="Google Shape;22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457"/>
            <a:ext cx="9144000" cy="5142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spensión trasera para coche Mesa Baja"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9657" y="-973969"/>
            <a:ext cx="9955212" cy="1134488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/>
          <p:nvPr>
            <p:ph type="title"/>
          </p:nvPr>
        </p:nvSpPr>
        <p:spPr>
          <a:xfrm>
            <a:off x="247650" y="445025"/>
            <a:ext cx="870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CO"/>
              <a:t>Esquema de datos mínimo</a:t>
            </a:r>
            <a:endParaRPr/>
          </a:p>
        </p:txBody>
      </p:sp>
      <p:pic>
        <p:nvPicPr>
          <p:cNvPr id="227" name="Google Shape;227;p1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3487" y="987522"/>
            <a:ext cx="4137025" cy="371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>
            <p:ph type="ctrTitle"/>
          </p:nvPr>
        </p:nvSpPr>
        <p:spPr>
          <a:xfrm>
            <a:off x="311700" y="2400300"/>
            <a:ext cx="8520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CO"/>
              <a:t>Gracias</a:t>
            </a:r>
            <a:endParaRPr/>
          </a:p>
        </p:txBody>
      </p:sp>
      <p:sp>
        <p:nvSpPr>
          <p:cNvPr id="233" name="Google Shape;233;p11"/>
          <p:cNvSpPr txBox="1"/>
          <p:nvPr>
            <p:ph idx="1" type="subTitle"/>
          </p:nvPr>
        </p:nvSpPr>
        <p:spPr>
          <a:xfrm>
            <a:off x="311700" y="3634225"/>
            <a:ext cx="85206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4D"/>
              </a:buClr>
              <a:buSzPts val="1600"/>
              <a:buFont typeface="Trebuchet MS"/>
              <a:buNone/>
            </a:pPr>
            <a:r>
              <a:rPr lang="es-CO"/>
              <a:t>Veamos el prototipo…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Estudiante</dc:creator>
</cp:coreProperties>
</file>